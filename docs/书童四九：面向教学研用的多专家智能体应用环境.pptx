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56" Target="notesSlides/notesSlide23.xml" Type="http://schemas.openxmlformats.org/officeDocument/2006/relationships/notesSlide"/><Relationship Id="rId57" Target="notesSlides/notesSlide24.xml" Type="http://schemas.openxmlformats.org/officeDocument/2006/relationships/notesSlide"/><Relationship Id="rId58" Target="notesSlides/notesSlide25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向大家汇报“书童四九”项目。这是一个面向教学、研究、学习和管理全场景的多专家智能体应用环境。我们的核心定位是成为师生们信赖的“AI专家助理”，致力于解决教育领域的AI应用痛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七个部分。首先，我们将探讨项目的缘起，解释“书童四九”这个名字的由来。接着，会介绍项目的背景和核心价值。然后，我们会深入解析其核心使用逻辑、项目架构和当前的开发进度。之后，会展示我们的UI设计理念。最后，将展望项目的未来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首先，我们进入第一部分：项目缘起。在这里，我们将回顾项目从最初的技术定义到最终场景落地的演变过程，特别是“书童四九”这个名字背后的文化意象和产品定位。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书童四九”这个名字，源自中国经典传说。它不仅是一个文化符号，更精准地传达了我们产品的核心定位。它代表着专属的陪伴、可靠的辅助，其“伴读、助学、守礼”的精神内核，与我们面向教学研用的场景需求完美契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项目的命名经历了三个阶段的演进。从最初纯技术视角的“DHA”，到强调协作的“拾柴”，再到最终的“书童四九”。这个过程反映了我们产品哲学的转变，即从技术驱动转向场景驱动，最终找到了最能代表产品核心价值和目标用户的文化符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接下来进入第二部分，我们将探讨项目的背景。在AI技术飞速发展的今天，教育领域面临着新的机遇和挑战。我们将阐述“书童四九”如何定位为教育场景下的智能体新基建。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我们的核心定位非常明确：打造一个安全、适配教育场景的智能体运行环境。我们借鉴了前沿的架构思想，但更重要的是，我们强化了应用安全性，并针对教学、研究、学习和管理的全流程进行了深度优化。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在当前AI技术浪潮下，教育领域虽然迎来了机遇，但也面临着诸多痛点。通用型AI工具普遍存在不可定制化、与教学场景融入不佳、数据安全担忧等问题。这些痛点正是“书童四九”项目致力于解决的核心。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书童四九”的核心价值在于系统性地解决了当前AI在教育领域应用的四大痛点：场景割裂、生态封闭、部署复杂和数据隐私。我们通过场景全覆盖、生态开放、部署灵活和资产安全这四大核心价值，为用户提供了一个真正实用、安全的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产品生态架构分为四层：用户层、应用层、核心层和支撑层。这种分层设计实现了功能的高度模块化和可扩展性。特别是通过“应用广场”，我们为师生创造了一个分享和获取应用的开放生态，极大地丰富了平台的生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第三部分，我们将解析“书童四九”的核心使用逻辑。这是一个以场景为入口的能力组合链路，体现了我们“以人为本”的设计思想，将复杂的技术隐藏在简单的用户操作之后。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核心链路从用户选择场景开始，系统会自动匹配专家，专家调用技能，技能借助工具，工具由模型提供智慧，最后所有过程和结果都通过文件保存在本地。这个闭环链路为用户提供了一个强大、灵活且安全的智能工作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为了方便大家体验，我们提供了几个测试账号。其中徐鹏老师的账号包含了4个预设场景，功能最全。同时，大家也可以通过GitHub和官方地址获取项目的最新资讯和代码。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第四部分，我们将深入探讨项目的技术架构。我们采用了分层解耦的设计，确保了系统的高内聚、低耦合，具备良好的可扩展性和灵活性。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我们的核心架构从外到内分为用户层、Web UI层、工作区层、DHA核心层和能力支撑层。这种设计使得系统各部分职责明确，既保证了用户体验，又确保了系统的稳定和可扩展。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展示了我们系统的核心交互流程。从用户在前端界面发起请求开始，经过FastAPI网关，系统会读取会话配置并编排相应的专家智能体。专家智能体在运行过程中会调用大模型、MCP工具和技能脚本，并最终通过SSE协议将结果实时推流返回给前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系统的强大功能源于六大核心能力模块：记忆、专家、技能、工具、大模型和文件。每个模块都经过精心设计，实现了高度的标准化和灵活性，共同构成了我们智能体底座的坚实基础。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第五部分，我们来看看项目的当前开发进度。经过前期的努力，项目已经完成了大部分核心功能的开发，正式进入了内部测试阶段。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目前，我们已经实现了包括视觉主题、会话编排、多用户账号、专家技能配置以及文件工作区在内的五大核心功能模块。这些功能的完整体现了系统的基础能力已经成型。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第六部分，我们将分享项目的UI设计理念。我们始终坚持场景化配置、本地化管理和样式一致性三大原则，致力于为用户提供直观、高效的操作体验。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我们UI设计中最具特色的亮点，就是文件本地存储的可视化。通过直观展示本地文件工作区，我们不仅向用户传递了安全、可控的核心优势，更重要的是，建立了用户对产品的信任，实现了技术价值的可视化。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最后，我们来展望项目的未来。我们为“书童四九”制定了清晰的短期、中期和长期规划，将围绕体验优化、场景丰富和生态完善三大方向持续迭代。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路线图非常清晰。短期内，我们将聚焦于体验优化和功能完善。中期，我们将进行能力升级，引入沙盒、分享等高级功能。长期来看，我们的目标是构建完善的应用生态，并持续进行技术迭代，最终实现教学研用全场景的覆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总结一下，“书童四九”以教学研用为核心，通过创新的核心逻辑，打造了一个安全、开放、灵活的AI应用环境。目前项目已进入内测阶段，未来我们将继续迭代，致力于成为教育领域不可或缺的智能体新基建。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4.jpeg" Type="http://schemas.openxmlformats.org/officeDocument/2006/relationships/image"/><Relationship Id="rId3" Target="../media/image21.jpe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7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38.png" Type="http://schemas.openxmlformats.org/officeDocument/2006/relationships/image"/><Relationship Id="rId14" Target="../media/image39.svg" Type="http://schemas.openxmlformats.org/officeDocument/2006/relationships/image"/><Relationship Id="rId15" Target="../notesSlides/notesSlide8.xml" Type="http://schemas.openxmlformats.org/officeDocument/2006/relationships/notesSlide"/><Relationship Id="rId2" Target="../media/image4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svg" Type="http://schemas.openxmlformats.org/officeDocument/2006/relationships/image"/><Relationship Id="rId11" Target="../notesSlides/notesSlide9.xml" Type="http://schemas.openxmlformats.org/officeDocument/2006/relationships/notesSlide"/><Relationship Id="rId2" Target="../media/image4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5.svg" Type="http://schemas.openxmlformats.org/officeDocument/2006/relationships/image"/><Relationship Id="rId11" Target="../notesSlides/notesSlide10.xml" Type="http://schemas.openxmlformats.org/officeDocument/2006/relationships/notesSlide"/><Relationship Id="rId2" Target="../media/image4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png" Type="http://schemas.openxmlformats.org/officeDocument/2006/relationships/image"/><Relationship Id="rId12" Target="../media/image55.svg" Type="http://schemas.openxmlformats.org/officeDocument/2006/relationships/image"/><Relationship Id="rId13" Target="../media/image56.png" Type="http://schemas.openxmlformats.org/officeDocument/2006/relationships/image"/><Relationship Id="rId14" Target="../media/image57.svg" Type="http://schemas.openxmlformats.org/officeDocument/2006/relationships/image"/><Relationship Id="rId15" Target="../notesSlides/notesSlide11.xml" Type="http://schemas.openxmlformats.org/officeDocument/2006/relationships/notesSlide"/><Relationship Id="rId2" Target="../media/image4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svg" Type="http://schemas.openxmlformats.org/officeDocument/2006/relationships/image"/><Relationship Id="rId11" Target="../media/image2.png" Type="http://schemas.openxmlformats.org/officeDocument/2006/relationships/image"/><Relationship Id="rId12" Target="../media/image3.svg" Type="http://schemas.openxmlformats.org/officeDocument/2006/relationships/image"/><Relationship Id="rId13" Target="../media/image64.png" Type="http://schemas.openxmlformats.org/officeDocument/2006/relationships/image"/><Relationship Id="rId14" Target="../media/image65.svg" Type="http://schemas.openxmlformats.org/officeDocument/2006/relationships/image"/><Relationship Id="rId15" Target="../notesSlides/notesSlide12.xml" Type="http://schemas.openxmlformats.org/officeDocument/2006/relationships/notesSlide"/><Relationship Id="rId2" Target="../media/image4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66.png" Type="http://schemas.openxmlformats.org/officeDocument/2006/relationships/image"/><Relationship Id="rId4" Target="../media/image67.svg" Type="http://schemas.openxmlformats.org/officeDocument/2006/relationships/image"/><Relationship Id="rId5" Target="../media/image68.png" Type="http://schemas.openxmlformats.org/officeDocument/2006/relationships/image"/><Relationship Id="rId6" Target="../media/image69.svg" Type="http://schemas.openxmlformats.org/officeDocument/2006/relationships/image"/><Relationship Id="rId7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70.png" Type="http://schemas.openxmlformats.org/officeDocument/2006/relationships/image"/><Relationship Id="rId4" Target="../media/image71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9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15.xml" Type="http://schemas.openxmlformats.org/officeDocument/2006/relationships/notesSlide"/><Relationship Id="rId2" Target="../media/image4.jpeg" Type="http://schemas.openxmlformats.org/officeDocument/2006/relationships/image"/><Relationship Id="rId3" Target="../media/image72.png" Type="http://schemas.openxmlformats.org/officeDocument/2006/relationships/image"/><Relationship Id="rId4" Target="../media/image73.svg" Type="http://schemas.openxmlformats.org/officeDocument/2006/relationships/image"/><Relationship Id="rId5" Target="../media/image74.png" Type="http://schemas.openxmlformats.org/officeDocument/2006/relationships/image"/><Relationship Id="rId6" Target="../media/image75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9.svg" Type="http://schemas.openxmlformats.org/officeDocument/2006/relationships/image"/><Relationship Id="rId11" Target="../media/image82.png" Type="http://schemas.openxmlformats.org/officeDocument/2006/relationships/image"/><Relationship Id="rId12" Target="../media/image83.svg" Type="http://schemas.openxmlformats.org/officeDocument/2006/relationships/image"/><Relationship Id="rId13" Target="../media/image84.png" Type="http://schemas.openxmlformats.org/officeDocument/2006/relationships/image"/><Relationship Id="rId14" Target="../media/image85.svg" Type="http://schemas.openxmlformats.org/officeDocument/2006/relationships/image"/><Relationship Id="rId15" Target="../notesSlides/notesSlide16.xml" Type="http://schemas.openxmlformats.org/officeDocument/2006/relationships/notesSlide"/><Relationship Id="rId2" Target="../media/image4.jpeg" Type="http://schemas.openxmlformats.org/officeDocument/2006/relationships/image"/><Relationship Id="rId3" Target="../media/image80.png" Type="http://schemas.openxmlformats.org/officeDocument/2006/relationships/image"/><Relationship Id="rId4" Target="../media/image81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62.png" Type="http://schemas.openxmlformats.org/officeDocument/2006/relationships/image"/><Relationship Id="rId8" Target="../media/image63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86.png" Type="http://schemas.openxmlformats.org/officeDocument/2006/relationships/image"/><Relationship Id="rId14" Target="../media/image87.svg" Type="http://schemas.openxmlformats.org/officeDocument/2006/relationships/image"/><Relationship Id="rId15" Target="../notesSlides/notesSlide17.xml" Type="http://schemas.openxmlformats.org/officeDocument/2006/relationships/notesSlide"/><Relationship Id="rId2" Target="../media/image4.jpeg" Type="http://schemas.openxmlformats.org/officeDocument/2006/relationships/image"/><Relationship Id="rId3" Target="../media/image54.png" Type="http://schemas.openxmlformats.org/officeDocument/2006/relationships/image"/><Relationship Id="rId4" Target="../media/image55.svg" Type="http://schemas.openxmlformats.org/officeDocument/2006/relationships/image"/><Relationship Id="rId5" Target="../media/image60.png" Type="http://schemas.openxmlformats.org/officeDocument/2006/relationships/image"/><Relationship Id="rId6" Target="../media/image61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88.png" Type="http://schemas.openxmlformats.org/officeDocument/2006/relationships/image"/><Relationship Id="rId4" Target="../media/image89.svg" Type="http://schemas.openxmlformats.org/officeDocument/2006/relationships/image"/><Relationship Id="rId5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3.svg" Type="http://schemas.openxmlformats.org/officeDocument/2006/relationships/image"/><Relationship Id="rId11" Target="../media/image76.png" Type="http://schemas.openxmlformats.org/officeDocument/2006/relationships/image"/><Relationship Id="rId12" Target="../media/image77.svg" Type="http://schemas.openxmlformats.org/officeDocument/2006/relationships/image"/><Relationship Id="rId13" Target="../notesSlides/notesSlide19.xml" Type="http://schemas.openxmlformats.org/officeDocument/2006/relationships/notesSlide"/><Relationship Id="rId2" Target="../media/image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90.png" Type="http://schemas.openxmlformats.org/officeDocument/2006/relationships/image"/><Relationship Id="rId6" Target="../media/image91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92.png" Type="http://schemas.openxmlformats.org/officeDocument/2006/relationships/image"/><Relationship Id="rId4" Target="../media/image93.svg" Type="http://schemas.openxmlformats.org/officeDocument/2006/relationships/image"/><Relationship Id="rId5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94.png" Type="http://schemas.openxmlformats.org/officeDocument/2006/relationships/image"/><Relationship Id="rId4" Target="../media/image95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96.png" Type="http://schemas.openxmlformats.org/officeDocument/2006/relationships/image"/><Relationship Id="rId8" Target="../media/image97.svg" Type="http://schemas.openxmlformats.org/officeDocument/2006/relationships/image"/><Relationship Id="rId9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48.png" Type="http://schemas.openxmlformats.org/officeDocument/2006/relationships/image"/><Relationship Id="rId4" Target="../media/image49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100.png" Type="http://schemas.openxmlformats.org/officeDocument/2006/relationships/image"/><Relationship Id="rId6" Target="../media/image101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2.jpeg" Type="http://schemas.openxmlformats.org/officeDocument/2006/relationships/image"/><Relationship Id="rId3" Target="../media/image103.png" Type="http://schemas.openxmlformats.org/officeDocument/2006/relationships/image"/><Relationship Id="rId4" Target="../media/image104.svg" Type="http://schemas.openxmlformats.org/officeDocument/2006/relationships/image"/><Relationship Id="rId5" Target="../notesSlides/notesSlide25.xml" Type="http://schemas.openxmlformats.org/officeDocument/2006/relationships/notesSlide"/><Relationship Id="rId6" Target="../media/image10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80F1E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203200" cy="6858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1651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书童四九：面向教学研用的多专家智能体应用环境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667000"/>
            <a:ext cx="10160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D1C5">
                  <a:alpha val="100000"/>
                </a:srgbClr>
              </a:gs>
              <a:gs pos="100000">
                <a:srgbClr val="4FD1C5">
                  <a:alpha val="2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2984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书童四九组会汇报 | 专注教育场景 AI 深度赋能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3937000"/>
            <a:ext cx="10160000" cy="1270000"/>
          </a:xfrm>
          <a:prstGeom prst="roundRect">
            <a:avLst>
              <a:gd name="adj" fmla="val 10000"/>
            </a:avLst>
          </a:prstGeom>
          <a:solidFill>
            <a:srgbClr val="4FD1C5">
              <a:alpha val="12000"/>
            </a:srgbClr>
          </a:solidFill>
          <a:ln w="12700" cmpd="sng" cap="flat">
            <a:solidFill>
              <a:srgbClr val="4FD1C5">
                <a:alpha val="6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4FD1C5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14500" y="4292600"/>
            <a:ext cx="558800" cy="558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540000" y="4191000"/>
            <a:ext cx="850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</a:t>
            </a:r>
            <a:r>
              <a:rPr lang="en-US" b="true" i="false" strike="noStrike" u="none" sz="2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你的AI专家助理</a:t>
            </a: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致力于解决教育领域痛点，提供全流程智能支持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5588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 年度教育数字化创新项目汇报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 | 项目目录概览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968500"/>
            <a:ext cx="685800" cy="6858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55700" y="21082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18796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项目缘起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从DHA到书童四九的范式锚定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984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175000"/>
            <a:ext cx="685800" cy="6858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155700" y="33147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905000" y="30861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02 项目背景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教育场景的智能体新基建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191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381500"/>
            <a:ext cx="685800" cy="6858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155700" y="45212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905000" y="42926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核心使用逻辑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场景-专家-技能-工具-模型-文件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778000"/>
            <a:ext cx="5207000" cy="965200"/>
          </a:xfrm>
          <a:prstGeom prst="roundRect">
            <a:avLst>
              <a:gd name="adj" fmla="val 13157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943100"/>
            <a:ext cx="635000" cy="6350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16700" y="20828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302500" y="1854200"/>
            <a:ext cx="3937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04 项目架构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分层设计的智能体底座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2870200"/>
            <a:ext cx="5207000" cy="965200"/>
          </a:xfrm>
          <a:prstGeom prst="roundRect">
            <a:avLst>
              <a:gd name="adj" fmla="val 13157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3035300"/>
            <a:ext cx="635000" cy="6350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16700" y="31750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302500" y="2946400"/>
            <a:ext cx="3937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05 开发进度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功能落地与内测阶段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3962400"/>
            <a:ext cx="5207000" cy="965200"/>
          </a:xfrm>
          <a:prstGeom prst="roundRect">
            <a:avLst>
              <a:gd name="adj" fmla="val 13157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4127500"/>
            <a:ext cx="635000" cy="6350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16700" y="4267200"/>
            <a:ext cx="355600" cy="3556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302500" y="4038600"/>
            <a:ext cx="3937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06 UI设计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体验优化与样式一致性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23000" y="5054600"/>
            <a:ext cx="5207000" cy="965200"/>
          </a:xfrm>
          <a:prstGeom prst="roundRect">
            <a:avLst>
              <a:gd name="adj" fmla="val 13157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77000" y="5219700"/>
            <a:ext cx="635000" cy="6350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6616700" y="5359400"/>
            <a:ext cx="355600" cy="3556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7302500" y="5130800"/>
            <a:ext cx="3937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07 未来规划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能力升级与生态完善</a:t>
            </a:r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0" y="6667500"/>
            <a:ext cx="12192000" cy="190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D1C5">
                  <a:alpha val="0"/>
                </a:srgbClr>
              </a:gs>
              <a:gs pos="50000">
                <a:srgbClr val="4FD1C5">
                  <a:alpha val="100000"/>
                </a:srgbClr>
              </a:gs>
              <a:gs pos="100000">
                <a:srgbClr val="4FD1C5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689600" y="1270000"/>
            <a:ext cx="812800" cy="812800"/>
          </a:xfrm>
          <a:prstGeom prst="rect">
            <a:avLst/>
          </a:prstGeom>
          <a:effectLst>
            <a:outerShdw dir="2700000" dist="0" blurRad="190500" algn="tl" rotWithShape="false">
              <a:srgbClr val="4FD1C5">
                <a:alpha val="4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2349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31115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项目缘起：从DHA到书童四九的范式锚定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51000" y="4127500"/>
            <a:ext cx="889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回顾项目从技术定义到场景落地的演变历程</a:t>
            </a:r>
            <a:r>
              <a:rPr lang="en-US" b="false" i="false" strike="noStrike" u="none" sz="16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探寻“书童四九”背后的文化意象与产品定位逻辑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51000" y="5588000"/>
            <a:ext cx="8890000" cy="381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D1C5">
                  <a:alpha val="0"/>
                </a:srgbClr>
              </a:gs>
              <a:gs pos="50000">
                <a:srgbClr val="4FD1C5">
                  <a:alpha val="100000"/>
                </a:srgbClr>
              </a:gs>
              <a:gs pos="100000">
                <a:srgbClr val="4FD1C5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096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FD1C5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INNOVATION &amp; EVOLUTION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7142" r="7142" t="6250" b="6250"/>
          <a:stretch>
            <a:fillRect/>
          </a:stretch>
        </p:blipFill>
        <p:spPr>
          <a:xfrm rot="0" flipH="false" flipV="false">
            <a:off x="635000" y="1397000"/>
            <a:ext cx="4572000" cy="3556000"/>
          </a:xfrm>
          <a:prstGeom prst="roundRect">
            <a:avLst>
              <a:gd name="adj" fmla="val 5357"/>
            </a:avLst>
          </a:prstGeom>
          <a:noFill/>
          <a:ln w="25400" cmpd="sng" cap="flat">
            <a:solidFill>
              <a:srgbClr val="4FD1C5">
                <a:alpha val="10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4FD1C5">
                <a:alpha val="3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635000" y="5143500"/>
            <a:ext cx="4572000" cy="635000"/>
          </a:xfrm>
          <a:prstGeom prst="roundRect">
            <a:avLst>
              <a:gd name="adj" fmla="val 20000"/>
            </a:avLst>
          </a:prstGeom>
          <a:solidFill>
            <a:srgbClr val="4FD1C5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经典传说 · 梁山伯与祝英台书童原型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762000"/>
            <a:ext cx="596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名称溯源：文化意象与产品定位的深度契合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69" flipH="false" flipV="false">
            <a:off x="5715040" y="1454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4FD1C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715000" y="1778000"/>
            <a:ext cx="596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969000" y="20955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731000" y="1930400"/>
            <a:ext cx="4699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身份象征：专属陪伴者与学术仆从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源自《梁祝》书童四九，寓意求学路上的忠实伙伴，精准呼应“AI专家助理”的产品定位。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0" y="3175000"/>
            <a:ext cx="596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969000" y="34925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731000" y="3327400"/>
            <a:ext cx="4699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性格特质：朴实可靠的伴学属性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四九的忠诚可靠，传递了产品“稳定、可信、值得信赖”的品牌承诺，构建用户信任基石。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5000" y="4572000"/>
            <a:ext cx="5969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969000" y="48895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31000" y="4724400"/>
            <a:ext cx="46990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精神内核：精准匹配教学研用场景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“伴读、助学、守礼”的精神内核，完美契合助学、助教、助研、助管的核心业务场景需求。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名称演进：从技术定义到场景落地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3378200" cy="3937000"/>
          </a:xfrm>
          <a:prstGeom prst="roundRect">
            <a:avLst>
              <a:gd name="adj" fmla="val 4511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35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16100" y="2286000"/>
            <a:ext cx="1270000" cy="1270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70100" y="2540000"/>
            <a:ext cx="762000" cy="762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89000" y="36830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PHASE 01 技术视角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4064000"/>
            <a:ext cx="3124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DHA (数字人代理)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699000"/>
            <a:ext cx="29972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纯粹的技术定义，描述了产品的技术本质，但过于抽象，缺乏亲和力和场景感。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06900" y="1905000"/>
            <a:ext cx="3378200" cy="3937000"/>
          </a:xfrm>
          <a:prstGeom prst="roundRect">
            <a:avLst>
              <a:gd name="adj" fmla="val 4511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35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461000" y="2286000"/>
            <a:ext cx="1270000" cy="1270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15000" y="2540000"/>
            <a:ext cx="762000" cy="762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533900" y="36830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PHASE 02 协作共创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33900" y="4064000"/>
            <a:ext cx="3124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拾柴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97400" y="4699000"/>
            <a:ext cx="29972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强调多智能体协作理念，但未能精准锚定教育核心场景，未能突出产品独特性。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51800" y="1905000"/>
            <a:ext cx="3378200" cy="3937000"/>
          </a:xfrm>
          <a:prstGeom prst="roundRect">
            <a:avLst>
              <a:gd name="adj" fmla="val 4511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35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05900" y="2286000"/>
            <a:ext cx="1270000" cy="1270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59900" y="2540000"/>
            <a:ext cx="762000" cy="762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178800" y="36830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PHASE 03 场景定位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78800" y="4064000"/>
            <a:ext cx="3124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书童四九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42300" y="4699000"/>
            <a:ext cx="29972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具有强烈的文化认同感，精准锚定“教学研用”核心场景，实现了品牌与场景的无缝对接。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6096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6096000"/>
            <a:ext cx="10668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演进逻辑：技术驱动 → 协作驱动 → 场景与文化驱动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941" r="2941" t="2961" b="296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689600" y="1270000"/>
            <a:ext cx="812800" cy="812800"/>
          </a:xfrm>
          <a:prstGeom prst="rect">
            <a:avLst/>
          </a:prstGeom>
          <a:effectLst>
            <a:outerShdw dir="2700000" dist="0" blurRad="127000" algn="tl" rotWithShape="false">
              <a:srgbClr val="4FD1C5">
                <a:alpha val="4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2286000" y="2413000"/>
            <a:ext cx="762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PART 02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34000" y="3302000"/>
            <a:ext cx="1524000" cy="50800"/>
          </a:xfrm>
          <a:prstGeom prst="roundRect">
            <a:avLst>
              <a:gd name="adj" fmla="val 5000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683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项目背景：教育场景的智能体新基建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4699000"/>
            <a:ext cx="812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驱动的教育数字化转型 · 重构教学底层逻辑与交互体验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教育场景的安全智能体运行环境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4FD1C5">
              <a:alpha val="12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anchor="ctr" rtlCol="false" anchorCtr="false" vert="horz" wrap="square" lIns="254000" rIns="25400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核心定位：打造类OpenClaw的AI智能体运行环境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针对教育场景全维度优化，强化应用安全性，构建面向助学、助教、助研、助管的多专家智能体生态。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556000"/>
            <a:ext cx="3302000" cy="2032000"/>
          </a:xfrm>
          <a:prstGeom prst="roundRect">
            <a:avLst>
              <a:gd name="adj" fmla="val 6250"/>
            </a:avLst>
          </a:prstGeom>
          <a:gradFill rotWithShape="true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3000"/>
                </a:srgbClr>
              </a:gs>
            </a:gsLst>
            <a:lin ang="5400000"/>
          </a:gradFill>
          <a:ln w="12700" cmpd="sng" cap="flat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05000" y="3810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95500" y="40005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89000" y="4953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类OpenClaw架构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模块化设计，灵活可扩展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18000" y="3556000"/>
            <a:ext cx="3302000" cy="2032000"/>
          </a:xfrm>
          <a:prstGeom prst="roundRect">
            <a:avLst>
              <a:gd name="adj" fmla="val 6250"/>
            </a:avLst>
          </a:prstGeom>
          <a:gradFill rotWithShape="true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3000"/>
                </a:srgbClr>
              </a:gs>
            </a:gsLst>
            <a:lin ang="5400000"/>
          </a:gradFill>
          <a:ln w="12700" cmpd="sng" cap="flat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461000" y="3810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51500" y="4000500"/>
            <a:ext cx="635000" cy="635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445000" y="4953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强化应用安全性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沙箱隔离与本地部署保障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874000" y="3556000"/>
            <a:ext cx="3302000" cy="2032000"/>
          </a:xfrm>
          <a:prstGeom prst="roundRect">
            <a:avLst>
              <a:gd name="adj" fmla="val 6250"/>
            </a:avLst>
          </a:prstGeom>
          <a:gradFill rotWithShape="true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3000"/>
                </a:srgbClr>
              </a:gs>
            </a:gsLst>
            <a:lin ang="5400000"/>
          </a:gradFill>
          <a:ln w="12700" cmpd="sng" cap="flat">
            <a:solidFill>
              <a:srgbClr val="4FD1C5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017000" y="3810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207500" y="4000500"/>
            <a:ext cx="635000" cy="635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001000" y="4953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教育场景全维优化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深度适配“教学研用”需求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971" r="4971" t="5000" b="500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教育场景AI应用的核心痛点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2349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841500" y="2222500"/>
            <a:ext cx="203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不可定制化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通用模型无法适配个性化教学需求，缺乏灵活性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254500" y="190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349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334000" y="2222500"/>
            <a:ext cx="203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场景融入不佳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工具与实际教学流程脱节，难以无缝嵌入日常备课授课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747000" y="1905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064500" y="23495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826500" y="2222500"/>
            <a:ext cx="203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数据安全担忧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敏感教学数据上云风险高，隐私泄露隐患不容忽视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937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79500" y="43815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841500" y="4254500"/>
            <a:ext cx="203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能力单一割裂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单点工具无法联动，作业、备课、批改等环节数据不互通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254500" y="3937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572000" y="43815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334000" y="4254500"/>
            <a:ext cx="203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部署复杂昂贵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本地部署环境配置繁琐，算力资源成本高企，维护难度大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747000" y="3937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064500" y="43815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826500" y="4254500"/>
            <a:ext cx="203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生态封闭受限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系统封闭，无法接入学校现有教务系统或扩展第三方应用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痛点直击：从单点工具到全场景生态的全面挑战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7" b="195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985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书童四九核心价值：教育场景智能体应用痛点解决方案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24765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62100" y="2413000"/>
            <a:ext cx="889000" cy="889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689100" y="25400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62000" y="3429000"/>
            <a:ext cx="247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场景全覆盖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937000"/>
            <a:ext cx="2095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打通助学、助教、助研、助管全链路，提供一站式智能辅助体验，无缝衔接教育教学各环节。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29000" y="2032000"/>
            <a:ext cx="24765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229100" y="2413000"/>
            <a:ext cx="889000" cy="889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356100" y="2540000"/>
            <a:ext cx="635000" cy="635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429000" y="3429000"/>
            <a:ext cx="247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生态高度开放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19500" y="3937000"/>
            <a:ext cx="2095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兼容现有Skills，支持自定义扩充能力，灵活切换本地或外部大模型，拒绝生态孤岛。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0" y="2032000"/>
            <a:ext cx="24765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96100" y="2413000"/>
            <a:ext cx="889000" cy="889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023100" y="2540000"/>
            <a:ext cx="635000" cy="635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096000" y="3429000"/>
            <a:ext cx="247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部署极简灵活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3937000"/>
            <a:ext cx="2095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硬件要求低，支持个人主机、服务器、云主机等多形态部署，大幅降低技术与硬件门槛。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763000" y="2032000"/>
            <a:ext cx="2476500" cy="3683000"/>
          </a:xfrm>
          <a:prstGeom prst="roundRect">
            <a:avLst>
              <a:gd name="adj" fmla="val 6153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63100" y="2413000"/>
            <a:ext cx="889000" cy="889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690100" y="2540000"/>
            <a:ext cx="635000" cy="635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8763000" y="3429000"/>
            <a:ext cx="2476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资产绝对安全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953500" y="3937000"/>
            <a:ext cx="20955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支持本地文件操作和私有化存储，确保教育核心数据与数字资产的隐私安全与自主可控。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6096000"/>
            <a:ext cx="10668000" cy="381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D1C5">
                  <a:alpha val="0"/>
                </a:srgbClr>
              </a:gs>
              <a:gs pos="50000">
                <a:srgbClr val="4FD1C5">
                  <a:alpha val="100000"/>
                </a:srgbClr>
              </a:gs>
              <a:gs pos="100000">
                <a:srgbClr val="4FD1C5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398" r="3398" t="3448" b="3448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产品生态架构：从用户交互到核心能力的全链路赋能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33500"/>
            <a:ext cx="1016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2540000" cy="3429000"/>
          </a:xfrm>
          <a:prstGeom prst="roundRect">
            <a:avLst>
              <a:gd name="adj" fmla="val 600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4FD1C5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00200" y="2222500"/>
            <a:ext cx="863600" cy="8636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01800" y="2324100"/>
            <a:ext cx="660400" cy="660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89000" y="323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24554" flipH="false" flipV="false">
            <a:off x="1143023" y="3740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952500" y="3937000"/>
            <a:ext cx="215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管理人员 / 教师 / 学生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全角色覆盖与交互入口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92500" y="1905000"/>
            <a:ext cx="2540000" cy="3429000"/>
          </a:xfrm>
          <a:prstGeom prst="roundRect">
            <a:avLst>
              <a:gd name="adj" fmla="val 600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4FD1C5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30700" y="2222500"/>
            <a:ext cx="863600" cy="8636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432300" y="2324100"/>
            <a:ext cx="660400" cy="660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619500" y="323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24554" flipH="false" flipV="false">
            <a:off x="3873523" y="3740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3683000" y="3937000"/>
            <a:ext cx="215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Web门户 / 工作空间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应用广场与服务分发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1905000"/>
            <a:ext cx="2540000" cy="3429000"/>
          </a:xfrm>
          <a:prstGeom prst="roundRect">
            <a:avLst>
              <a:gd name="adj" fmla="val 600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4FD1C5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061200" y="2222500"/>
            <a:ext cx="863600" cy="8636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62800" y="2324100"/>
            <a:ext cx="660400" cy="660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350000" y="323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核心层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24554" flipH="false" flipV="false">
            <a:off x="6604023" y="3740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413500" y="3937000"/>
            <a:ext cx="215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多专家智能体核心引擎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调度与决策中枢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953500" y="1905000"/>
            <a:ext cx="2540000" cy="3429000"/>
          </a:xfrm>
          <a:prstGeom prst="roundRect">
            <a:avLst>
              <a:gd name="adj" fmla="val 6000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27000" blurRad="254000" algn="tl" rotWithShape="false">
              <a:srgbClr val="4FD1C5">
                <a:alpha val="1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791700" y="2222500"/>
            <a:ext cx="863600" cy="8636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893300" y="2324100"/>
            <a:ext cx="660400" cy="660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080500" y="323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支撑层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24554" flipH="false" flipV="false">
            <a:off x="9334523" y="3740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9144000" y="3937000"/>
            <a:ext cx="215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技能库 / MCP协议</a:t>
            </a: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大模型底座 / 工具与文件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651500"/>
            <a:ext cx="10731500" cy="762000"/>
          </a:xfrm>
          <a:prstGeom prst="roundRect">
            <a:avLst>
              <a:gd name="adj" fmla="val 16666"/>
            </a:avLst>
          </a:prstGeom>
          <a:solidFill>
            <a:srgbClr val="4FD1C5">
              <a:alpha val="10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16000" y="5778500"/>
            <a:ext cx="10223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通过分层架构，构建开放、协同、繁荣的智能体应用生态，赋能教育数字化转型。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63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 spc="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270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核心使用逻辑：六步价值链路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13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17600" y="2857500"/>
            <a:ext cx="812800" cy="812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62000" y="393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1F5F9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业务入口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590800" y="2413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946400" y="2857500"/>
            <a:ext cx="812800" cy="812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590800" y="393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专家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1F5F9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知识赋能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19600" y="2413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775200" y="2857500"/>
            <a:ext cx="812800" cy="812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419600" y="393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技能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1F5F9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能力沉淀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48400" y="2413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2857500"/>
            <a:ext cx="812800" cy="812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248400" y="393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工具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1F5F9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效率落地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77200" y="2413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432800" y="2857500"/>
            <a:ext cx="812800" cy="812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077200" y="393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1F5F9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智能驱动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906000" y="2413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261600" y="2857500"/>
            <a:ext cx="812800" cy="812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906000" y="39370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文件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1F5F9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成果载体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46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BD5E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“以人为本”的设计思想，将复杂技术隐藏在简单操作之后，打造流畅的协作体验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0" y="6286500"/>
            <a:ext cx="12192000" cy="76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D1C5">
                  <a:alpha val="100000"/>
                </a:srgbClr>
              </a:gs>
              <a:gs pos="100000">
                <a:srgbClr val="3B82F6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7" b="195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核心链路：以场景为入口的能力组合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460500"/>
            <a:ext cx="10668000" cy="381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73100" y="1905000"/>
            <a:ext cx="1651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4FD1C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93800" y="2286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36600" y="3048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场景定义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556000"/>
            <a:ext cx="1447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明确任务需求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如学术论文写作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课程报告调研等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514600" y="1905000"/>
            <a:ext cx="1651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4FD1C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035300" y="22860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2578100" y="3048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角色匹配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603500" y="3556000"/>
            <a:ext cx="1447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智能匹配对应专家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如学术研究员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专业文书专员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56100" y="1905000"/>
            <a:ext cx="1651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4FD1C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876800" y="2286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419600" y="3048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能力组合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45000" y="3556000"/>
            <a:ext cx="1447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组合专业技能包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文献搜索、摘要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格式智能校验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197600" y="1905000"/>
            <a:ext cx="1651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4FD1C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718300" y="22860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261100" y="3048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工具连接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3556000"/>
            <a:ext cx="1447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链接外部资源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网页抓取、搜索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浏览器自动化控制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039100" y="1905000"/>
            <a:ext cx="1651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4FD1C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559800" y="22860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8102600" y="3048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智慧引擎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0" y="3556000"/>
            <a:ext cx="1447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提供核心智慧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支持GPT-4o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Claude、Qwen等模型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880600" y="1905000"/>
            <a:ext cx="1651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4FD1C5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0401300" y="2286000"/>
            <a:ext cx="609600" cy="6096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944100" y="30480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安全留存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969500" y="3556000"/>
            <a:ext cx="14478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全流程数据落地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本地文件存储</a:t>
            </a: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6E6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保障安全与可追溯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73100" y="5778500"/>
            <a:ext cx="10858500" cy="508000"/>
          </a:xfrm>
          <a:prstGeom prst="roundRect">
            <a:avLst>
              <a:gd name="adj" fmla="val 25000"/>
            </a:avLst>
          </a:prstGeom>
          <a:solidFill>
            <a:srgbClr val="4FD1C5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全链路智能协同 · 打造安全可控的智能工作流闭环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0" b="393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985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测试账号信息与项目资源入口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762032" y="1454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mpd="sng" cap="flat">
            <a:solidFill>
              <a:srgbClr val="4FD1C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066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16000" y="2032000"/>
          <a:ext cx="9906000" cy="2349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02000"/>
                <a:gridCol w="3048000"/>
                <a:gridCol w="3556000"/>
              </a:tblGrid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4FD1C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测试账号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2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4FD1C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登录密码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2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4FD1C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归属/用途说明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FD1C5">
                        <a:alpha val="25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13801027172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13801027172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徐鹏老师 (含4个场景，功能最全)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free4inno@bupt.edu.cn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free4inno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通用测试账号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2987371922@qq.com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717820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高国栋专用测试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opentest@bupt.edu.cn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telestar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EBEB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李向东专用测试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762000" y="5143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5397500"/>
            <a:ext cx="558800" cy="558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778000" y="53086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代码仓库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https://github.com/dha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5143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5397500"/>
            <a:ext cx="558800" cy="558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239000" y="53086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项目官方站点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https://pitee.com/dha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941" r="2941" t="2961" b="296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588000" y="1143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651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 spc="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PART 04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项目架构：分层设计的智能体底座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6875" flipH="false" flipV="false">
            <a:off x="2921006" y="3422650"/>
            <a:ext cx="635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651000" y="3746500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采用高内聚低耦合的分层解耦设计，构建可扩展、高灵活的智能体系统基座，确保业务快速迭代与技术升级。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667000" y="4953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870200" y="51562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540000" y="6032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分层解耦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26000" y="4953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029200" y="51562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699000" y="6032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架构清晰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985000" y="4953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88200" y="51562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858000" y="6032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智能驱动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7" b="195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核心架构分层解析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从用户交互到核心算力的五层演进逻辑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1930400" cy="3556000"/>
          </a:xfrm>
          <a:prstGeom prst="roundRect">
            <a:avLst>
              <a:gd name="adj" fmla="val 6578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422400" y="2286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25500" y="3048000"/>
            <a:ext cx="1803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30693" flipH="false" flipV="false">
            <a:off x="1016028" y="3549650"/>
            <a:ext cx="142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FD1C5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89000" y="3746500"/>
            <a:ext cx="1676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多角色适配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覆盖不同业务场景需求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提供个性化体验入口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819400" y="1905000"/>
            <a:ext cx="1930400" cy="3556000"/>
          </a:xfrm>
          <a:prstGeom prst="roundRect">
            <a:avLst>
              <a:gd name="adj" fmla="val 6578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479800" y="22860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2882900" y="3048000"/>
            <a:ext cx="1803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Web UI层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30693" flipH="false" flipV="false">
            <a:off x="3073428" y="3549650"/>
            <a:ext cx="142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FD1C5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2946400" y="3746500"/>
            <a:ext cx="1676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可视化操作界面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交互流畅直观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降低用户使用门槛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76800" y="1905000"/>
            <a:ext cx="1930400" cy="3556000"/>
          </a:xfrm>
          <a:prstGeom prst="roundRect">
            <a:avLst>
              <a:gd name="adj" fmla="val 6578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537200" y="22860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940300" y="3048000"/>
            <a:ext cx="1803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工作区层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30693" flipH="false" flipV="false">
            <a:off x="5130828" y="3549650"/>
            <a:ext cx="142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FD1C5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5003800" y="3746500"/>
            <a:ext cx="1676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本地文件管理核心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数据安全隔离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资源统一调度中心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934200" y="1905000"/>
            <a:ext cx="1930400" cy="3556000"/>
          </a:xfrm>
          <a:prstGeom prst="roundRect">
            <a:avLst>
              <a:gd name="adj" fmla="val 6578"/>
            </a:avLst>
          </a:prstGeom>
          <a:solidFill>
            <a:srgbClr val="4FD1C5">
              <a:alpha val="15000"/>
            </a:srgbClr>
          </a:solidFill>
          <a:ln w="25400" cmpd="sng" cap="flat">
            <a:solidFill>
              <a:srgbClr val="4FD1C5">
                <a:alpha val="90000"/>
              </a:srgbClr>
            </a:solidFill>
            <a:prstDash val="solid"/>
            <a:round/>
          </a:ln>
          <a:effectLst>
            <a:outerShdw dir="2700000" dist="0" blurRad="190500" algn="tl" rotWithShape="false">
              <a:srgbClr val="4FD1C5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594600" y="22860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997700" y="3048000"/>
            <a:ext cx="1803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DHA核心层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30693" flipH="false" flipV="false">
            <a:off x="7188228" y="3549650"/>
            <a:ext cx="142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7061200" y="3746500"/>
            <a:ext cx="1676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多智能体调度核心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业务逻辑中枢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决策与任务分发引擎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991600" y="1905000"/>
            <a:ext cx="1930400" cy="3556000"/>
          </a:xfrm>
          <a:prstGeom prst="roundRect">
            <a:avLst>
              <a:gd name="adj" fmla="val 6578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652000" y="2286000"/>
            <a:ext cx="609600" cy="6096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055100" y="3048000"/>
            <a:ext cx="1803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能力支撑层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30693" flipH="false" flipV="false">
            <a:off x="9245628" y="3549650"/>
            <a:ext cx="142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4FD1C5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9118600" y="3746500"/>
            <a:ext cx="16764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基础能力底座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集成记忆、技能、MCP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大模型与专家库融合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5715000"/>
            <a:ext cx="10668000" cy="558800"/>
          </a:xfrm>
          <a:prstGeom prst="roundRect">
            <a:avLst>
              <a:gd name="adj" fmla="val 45454"/>
            </a:avLst>
          </a:prstGeom>
          <a:solidFill>
            <a:srgbClr val="4FD1C5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核心价值：职责明确 · 体验流畅 · 稳定扩展 · 算力聚合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394" r="3491" t="3448" b="3448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核心交互流程架构：全链路实时智能协同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381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D1C5">
                  <a:alpha val="100000"/>
                </a:srgbClr>
              </a:gs>
              <a:gs pos="100000">
                <a:srgbClr val="4FD1C5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1981200" cy="3556000"/>
          </a:xfrm>
          <a:prstGeom prst="roundRect">
            <a:avLst>
              <a:gd name="adj" fmla="val 641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4FD1C5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44600" y="2159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447800" y="23622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89000" y="3302000"/>
            <a:ext cx="172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810000"/>
            <a:ext cx="172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用户发起对话请求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POST /chat/stream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可视化消息展示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946400" y="1778000"/>
            <a:ext cx="1981200" cy="3556000"/>
          </a:xfrm>
          <a:prstGeom prst="roundRect">
            <a:avLst>
              <a:gd name="adj" fmla="val 641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4FD1C5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29000" y="2159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32200" y="23622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073400" y="3302000"/>
            <a:ext cx="172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FastAPI网关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073400" y="3810000"/>
            <a:ext cx="172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请求鉴权与路由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读取会话上下文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加载专家配置信息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130800" y="1778000"/>
            <a:ext cx="1981200" cy="3556000"/>
          </a:xfrm>
          <a:prstGeom prst="roundRect">
            <a:avLst>
              <a:gd name="adj" fmla="val 641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4FD1C5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613400" y="2159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816600" y="23622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257800" y="3302000"/>
            <a:ext cx="172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智能体编排层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257800" y="3810000"/>
            <a:ext cx="172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主持人调度逻辑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专家Agent动态分配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任务拆解与协作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15200" y="1778000"/>
            <a:ext cx="1981200" cy="3556000"/>
          </a:xfrm>
          <a:prstGeom prst="roundRect">
            <a:avLst>
              <a:gd name="adj" fmla="val 6410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4FD1C5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797800" y="2159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8001000" y="23622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442200" y="3302000"/>
            <a:ext cx="172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核心能力引擎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442200" y="3810000"/>
            <a:ext cx="1727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大模型核心推理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MCP工具链调用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业务技能脚本执行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499600" y="1778000"/>
            <a:ext cx="1930400" cy="3556000"/>
          </a:xfrm>
          <a:prstGeom prst="roundRect">
            <a:avLst>
              <a:gd name="adj" fmla="val 6578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4FD1C5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931400" y="2159000"/>
            <a:ext cx="1016000" cy="1016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34600" y="2362200"/>
            <a:ext cx="609600" cy="6096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9563100" y="3302000"/>
            <a:ext cx="1803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SSE 实时推流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563100" y="3810000"/>
            <a:ext cx="18034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Server-Sent Events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流式数据分段返回</a:t>
            </a: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前端实时渲染更新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5651500"/>
            <a:ext cx="10668000" cy="698500"/>
          </a:xfrm>
          <a:prstGeom prst="roundRect">
            <a:avLst>
              <a:gd name="adj" fmla="val 36363"/>
            </a:avLst>
          </a:prstGeom>
          <a:solidFill>
            <a:srgbClr val="4FD1C5">
              <a:alpha val="12000"/>
            </a:srgbClr>
          </a:solidFill>
          <a:ln w="12700" cmpd="sng" cap="flat">
            <a:solidFill>
              <a:srgbClr val="4FD1C5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1143000" y="5778500"/>
            <a:ext cx="444500" cy="4445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1778000" y="5740400"/>
            <a:ext cx="939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端到端低延迟响应，多Agent协同处理复杂任务，确保交互的实时性与智能性。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核心能力模块：智能体底座的六大支柱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A7F0EC"/>
                </a:solidFill>
                <a:latin typeface="Noto Sans SC"/>
                <a:ea typeface="Noto Sans SC"/>
                <a:cs typeface="Noto Sans SC"/>
                <a:sym typeface="Noto Sans SC"/>
              </a:rPr>
              <a:t>六大模块构建标准化、高可用的智能体系统，全方位赋能业务场景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9685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FD1C5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23495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905000" y="2222500"/>
            <a:ext cx="2095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记忆模块 (Memory)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全链路对话追溯，明确分工facts、logs与messages，管理对话记忆。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9685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FD1C5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349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461000" y="2222500"/>
            <a:ext cx="2095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专家模块 (Expert)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高度定制化场景，支持指定专属模型、提示词及特定技能配置。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9685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FD1C5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3495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9017000" y="2222500"/>
            <a:ext cx="2095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技能模块 (Skill)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能力解耦标准化，通过Skill.md定义，实现功能的灵活复用与组合。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3937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FD1C5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143000" y="43180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905000" y="4191000"/>
            <a:ext cx="2095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工具模块 (Tool)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基于MCP Server标准化接入，实现外部工具即插即用，拓展交互边界。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445000" y="3937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FD1C5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99000" y="4318000"/>
            <a:ext cx="609600" cy="609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5461000" y="4191000"/>
            <a:ext cx="2095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大模型模块 (Model)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多模型配置中心，兼容主流大模型，支持业务负载下的灵活切换。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01000" y="3937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4FD1C5">
                <a:alpha val="10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4FD1C5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255000" y="43180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017000" y="4191000"/>
            <a:ext cx="2095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文件模块 (File)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完整的本地文件工作区管理，确保数字资产在交互过程中的安全可控。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020" r="1020" t="907" b="1088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588000" y="1397000"/>
            <a:ext cx="1016000" cy="1016000"/>
          </a:xfrm>
          <a:prstGeom prst="rect">
            <a:avLst/>
          </a:prstGeom>
          <a:effectLst>
            <a:outerShdw dir="2700000" dist="0" blurRad="317500" algn="tl" rotWithShape="false">
              <a:srgbClr val="4FD1C5">
                <a:alpha val="40000"/>
              </a:srgbClr>
            </a:outerShdw>
          </a:effectLst>
        </p:spPr>
      </p:pic>
      <p:sp>
        <p:nvSpPr>
          <p:cNvPr name="AutoShape 7" id="7"/>
          <p:cNvSpPr/>
          <p:nvPr/>
        </p:nvSpPr>
        <p:spPr>
          <a:xfrm rot="0" flipH="false" flipV="false">
            <a:off x="0" y="2667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PART 05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461000" y="3492500"/>
            <a:ext cx="1270000" cy="50800"/>
          </a:xfrm>
          <a:prstGeom prst="roundRect">
            <a:avLst>
              <a:gd name="adj" fmla="val 50000"/>
            </a:avLst>
          </a:prstGeom>
          <a:solidFill>
            <a:srgbClr val="4FD1C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3810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开发进度：功能落地与内测阶段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4826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核心功能开发完毕 · 启动内部验收 · 优化用户体验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0" y="5842000"/>
            <a:ext cx="508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398" r="3398" t="3448" b="3448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已实现核心功能模块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33782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95500"/>
            <a:ext cx="711200" cy="7112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68400" y="22479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2032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视觉与主题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905000" y="2476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集中式样式管理，支持多主题、深浅色模式一键切换。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1778000"/>
            <a:ext cx="33782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48200" y="2095500"/>
            <a:ext cx="711200" cy="7112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800600" y="22479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537200" y="2032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会话与编排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37200" y="2476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统一接口支持流式对话，实现多专家协同工作响应。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26400" y="1778000"/>
            <a:ext cx="33782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80400" y="2095500"/>
            <a:ext cx="711200" cy="7112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22479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169400" y="20320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多用户安全体系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69400" y="2476500"/>
            <a:ext cx="203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目录隔离实现数据隔离，SQLite+JWT双重安全认证。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38735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79500" y="4191000"/>
            <a:ext cx="762000" cy="762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282700" y="43942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2032000" y="4127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技能标准化配置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032000" y="4572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完成Agent配置标准化流程，深度整合技能插件与MCP能力，提升模型适配性。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38735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40500" y="4191000"/>
            <a:ext cx="762000" cy="762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743700" y="4394200"/>
            <a:ext cx="355600" cy="3556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7493000" y="4127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文件全生命周期管理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493000" y="4572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实现本地文件的上传、存储、读取与删除全流程管控，目录结构标准化落地。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0" y="6096000"/>
            <a:ext cx="12192000" cy="762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D1C5">
                  <a:alpha val="10000"/>
                </a:srgbClr>
              </a:gs>
              <a:gs pos="50000">
                <a:srgbClr val="4FD1C5">
                  <a:alpha val="25000"/>
                </a:srgbClr>
              </a:gs>
              <a:gs pos="100000">
                <a:srgbClr val="4FD1C5">
                  <a:alpha val="1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0" y="6248400"/>
            <a:ext cx="1219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系统基础能力已全面成型，架构稳健且具备高扩展性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7" b="195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F172A">
                  <a:alpha val="90000"/>
                </a:srgbClr>
              </a:gs>
              <a:gs pos="100000">
                <a:srgbClr val="0F172A">
                  <a:alpha val="8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689600" y="1016000"/>
            <a:ext cx="812800" cy="812800"/>
          </a:xfrm>
          <a:prstGeom prst="rect">
            <a:avLst/>
          </a:prstGeom>
          <a:effectLst>
            <a:outerShdw dir="2700000" dist="0" blurRad="127000" algn="tl" rotWithShape="false">
              <a:srgbClr val="4FD1C5">
                <a:alpha val="4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715000" y="20320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2413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 spc="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PART 06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3429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UI设计：体验优化与样式一致性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4318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 spc="2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场景化配置 · 本地化管理 · 体验一致性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0" b="3931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核心UI亮点：文件本地存储可视化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460500"/>
            <a:ext cx="1016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981200" y="2413000"/>
            <a:ext cx="863600" cy="863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34290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传递核心优势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40005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清晰展示memory文件夹内容，直观传递本地存储、安全、无状态及过程透明的核心技术优势。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254500" y="2032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473700" y="2413000"/>
            <a:ext cx="863600" cy="863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381500" y="34290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建立用户信任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40005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对话与文件实时本地落盘，让用户感知数据的绝对掌控权，大幅提升对产品的信赖感。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747000" y="2032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966200" y="2413000"/>
            <a:ext cx="863600" cy="863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874000" y="3429000"/>
            <a:ext cx="304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技术价值可视化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37500" y="40005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将抽象的本地存储架构，转化为用户可理解的UI视觉元素，降低认知成本，传递产品价值。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842000"/>
            <a:ext cx="10668000" cy="558800"/>
          </a:xfrm>
          <a:prstGeom prst="roundRect">
            <a:avLst>
              <a:gd name="adj" fmla="val 22727"/>
            </a:avLst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9436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设计理念：让技术特性可见，让用户体验安心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846" r="3846" t="3767" b="376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B1C2E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286000" y="1397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 spc="3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PART 07 | 战略展望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159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未来规划：能力升级与生态完善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3111500"/>
            <a:ext cx="2540000" cy="50800"/>
          </a:xfrm>
          <a:prstGeom prst="roundRect">
            <a:avLst>
              <a:gd name="adj" fmla="val 40000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683000"/>
            <a:ext cx="3048000" cy="1905000"/>
          </a:xfrm>
          <a:prstGeom prst="roundRect">
            <a:avLst>
              <a:gd name="adj" fmla="val 6666"/>
            </a:avLst>
          </a:prstGeom>
          <a:solidFill>
            <a:srgbClr val="4FD1C5">
              <a:alpha val="12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82800" y="4000500"/>
            <a:ext cx="914400" cy="914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016000" y="5016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体验优化 · 极致交互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打磨细节，持续提升用户满意度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3683000"/>
            <a:ext cx="3048000" cy="1905000"/>
          </a:xfrm>
          <a:prstGeom prst="roundRect">
            <a:avLst>
              <a:gd name="adj" fmla="val 6666"/>
            </a:avLst>
          </a:prstGeom>
          <a:solidFill>
            <a:srgbClr val="4FD1C5">
              <a:alpha val="12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638800" y="4000500"/>
            <a:ext cx="914400" cy="914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572000" y="5016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场景丰富 · 多元覆盖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拓展边界，满足全场景业务需求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3683000"/>
            <a:ext cx="3048000" cy="1905000"/>
          </a:xfrm>
          <a:prstGeom prst="roundRect">
            <a:avLst>
              <a:gd name="adj" fmla="val 6666"/>
            </a:avLst>
          </a:prstGeom>
          <a:solidFill>
            <a:srgbClr val="4FD1C5">
              <a:alpha val="12000"/>
            </a:srgbClr>
          </a:solidFill>
          <a:ln w="12700" cmpd="sng" cap="flat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194800" y="4000500"/>
            <a:ext cx="914400" cy="914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128000" y="5016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生态完善 · 开放共赢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链接资源，构建可持续发展生态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096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4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书童四九 | 2026 Strategic Roadmap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957" b="1957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未来规划路线图：战略演进路径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841500" y="2159000"/>
            <a:ext cx="1143000" cy="1143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032000" y="2349500"/>
            <a:ext cx="762000" cy="762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89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短期 (1-3个月)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937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体验优化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508500"/>
            <a:ext cx="279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聚焦关键场景稳定性验证，搭建高可用在线测试环境，确保核心功能流畅运行。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1778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24500" y="2159000"/>
            <a:ext cx="1143000" cy="1143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715000" y="2349500"/>
            <a:ext cx="762000" cy="762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572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中期 (3-9个月)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3937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能力升级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4508500"/>
            <a:ext cx="279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引入沙盒环境与分享能力，新增规划者角色，全面实现系统功能的自动化运行。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1778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40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000000">
                <a:alpha val="3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207500" y="2159000"/>
            <a:ext cx="1143000" cy="1143000"/>
          </a:xfrm>
          <a:prstGeom prst="ellipse">
            <a:avLst/>
          </a:prstGeom>
          <a:solidFill>
            <a:srgbClr val="4FD1C5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398000" y="2349500"/>
            <a:ext cx="762000" cy="762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255000" y="3429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长期 (9个月以上)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55000" y="3937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生态构建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82000" y="4508500"/>
            <a:ext cx="279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完善自动化测试体系，输出单机部署最佳实践，持续丰富应用广场与开发者生态。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223000"/>
            <a:ext cx="12192000" cy="635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4FD1C5">
                  <a:alpha val="10000"/>
                </a:srgbClr>
              </a:gs>
              <a:gs pos="50000">
                <a:srgbClr val="4FD1C5">
                  <a:alpha val="30000"/>
                </a:srgbClr>
              </a:gs>
              <a:gs pos="100000">
                <a:srgbClr val="4FD1C5">
                  <a:alpha val="1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0" y="6324600"/>
            <a:ext cx="1219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持续技术迭代 · 赋能全场景应用生态闭环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125" r="3125" t="3125" b="312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书童四九：打造教育场景智能体新基建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905000"/>
            <a:ext cx="3378200" cy="3810000"/>
          </a:xfrm>
          <a:prstGeom prst="roundRect">
            <a:avLst>
              <a:gd name="adj" fmla="val 4511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044700" y="2286000"/>
            <a:ext cx="812800" cy="8128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247900" y="24892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89000" y="3238500"/>
            <a:ext cx="3124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核心：教学研用闭环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746500"/>
            <a:ext cx="299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以多专家智能体为载体，通过“场景-专家-技能”逻辑，打造安全、开放、灵活的AI应用环境，精准赋能教育全流程。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46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94200" y="1905000"/>
            <a:ext cx="3378200" cy="3810000"/>
          </a:xfrm>
          <a:prstGeom prst="roundRect">
            <a:avLst>
              <a:gd name="adj" fmla="val 4511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676900" y="2286000"/>
            <a:ext cx="812800" cy="8128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5880100" y="24892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521200" y="3238500"/>
            <a:ext cx="3124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进度：正式内测阶段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84700" y="3746500"/>
            <a:ext cx="299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核心功能开发已全部完成，系统稳定性与响应速度符合预期，现已启动内部测试，收集反馈优化体验。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394200" y="546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26400" y="1905000"/>
            <a:ext cx="3378200" cy="3810000"/>
          </a:xfrm>
          <a:prstGeom prst="roundRect">
            <a:avLst>
              <a:gd name="adj" fmla="val 4511"/>
            </a:avLst>
          </a:prstGeom>
          <a:solidFill>
            <a:srgbClr val="FFFFFF">
              <a:alpha val="6000"/>
            </a:srgbClr>
          </a:solidFill>
          <a:ln w="12700" cmpd="sng" cap="flat">
            <a:solidFill>
              <a:srgbClr val="4FD1C5">
                <a:alpha val="50000"/>
              </a:srgbClr>
            </a:solidFill>
            <a:prstDash val="solid"/>
            <a:round/>
          </a:ln>
          <a:effectLst>
            <a:outerShdw dir="2700000" dist="101600" blurRad="190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09100" y="2286000"/>
            <a:ext cx="812800" cy="812800"/>
          </a:xfrm>
          <a:prstGeom prst="ellipse">
            <a:avLst/>
          </a:prstGeom>
          <a:solidFill>
            <a:srgbClr val="4FD1C5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12300" y="24892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153400" y="3238500"/>
            <a:ext cx="3124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愿景：持续迭代深耕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16900" y="3746500"/>
            <a:ext cx="29972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未来将聚焦体验优化、场景丰富与生态完善三大方向，持续深耕教育垂直领域，致力于成为行业不可或缺的智能体新基建。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026400" y="5461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4FD1C5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0" y="6299200"/>
            <a:ext cx="1219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让AI真正成为教育工作者的得力助手，共建智慧教育未来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00" r="2000" t="1785" b="178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689600" y="1143000"/>
            <a:ext cx="812800" cy="812800"/>
          </a:xfrm>
          <a:prstGeom prst="rect">
            <a:avLst/>
          </a:prstGeom>
          <a:effectLst>
            <a:outerShdw dir="2700000" dist="0" blurRad="190500" algn="tl" rotWithShape="false">
              <a:srgbClr val="4FD1C5">
                <a:alpha val="5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0" y="2159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30000"/>
              </a:srgbClr>
            </a:outerShdw>
          </a:effectLst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4FD1C5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302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461000" y="4191000"/>
            <a:ext cx="1270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0" blurRad="127000" algn="tl" rotWithShape="false">
              <a:srgbClr val="4FD1C5">
                <a:alpha val="8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457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C8DC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欢迎各位专家、领导提问与交流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